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Product C</c:v>
                  </c:pt>
                  <c:pt idx="1">
                    <c:v>Product B</c:v>
                  </c:pt>
                  <c:pt idx="2">
                    <c:v>Product 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23367.04</c:v>
                </c:pt>
                <c:pt idx="1">
                  <c:v>17388.79</c:v>
                </c:pt>
                <c:pt idx="2">
                  <c:v>11969.24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9EC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43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2430"/>
                </a:solidFill>
                <a:latin typeface="Arial"/>
              </a:rPr>
              <a:t>Revenue by Region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North</c:v>
                  </c:pt>
                  <c:pt idx="1">
                    <c:v>West</c:v>
                  </c:pt>
                  <c:pt idx="2">
                    <c:v>South</c:v>
                  </c:pt>
                  <c:pt idx="3">
                    <c:v>East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15441.13</c:v>
                </c:pt>
                <c:pt idx="1">
                  <c:v>13799.41</c:v>
                </c:pt>
                <c:pt idx="2">
                  <c:v>13725.89</c:v>
                </c:pt>
                <c:pt idx="3">
                  <c:v>9758.64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9EC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43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2430"/>
                </a:solidFill>
                <a:latin typeface="Arial"/>
              </a:rPr>
              <a:t>Share of Revenue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bubble3D val="0"/>
            <c:spPr>
              <a:solidFill>
                <a:srgbClr val="F2A541"/>
              </a:solidFill>
              <a:effectLst/>
            </c:spPr>
          </c:dPt>
          <c:dPt>
            <c:idx val="3"/>
            <c:bubble3D val="0"/>
            <c:spPr>
              <a:solidFill>
                <a:srgbClr val="21295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West</c:v>
                </c:pt>
                <c:pt idx="2">
                  <c:v>South</c:v>
                </c:pt>
                <c:pt idx="3">
                  <c:v>East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15441.13</c:v>
                </c:pt>
                <c:pt idx="1">
                  <c:v>13799.41</c:v>
                </c:pt>
                <c:pt idx="2">
                  <c:v>13725.89</c:v>
                </c:pt>
                <c:pt idx="3">
                  <c:v>9758.64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B243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 ($)</c:v>
                </c:pt>
              </c:strCache>
            </c:strRef>
          </c:tx>
          <c:spPr>
            <a:solidFill>
              <a:srgbClr val="065A82"/>
            </a:solidFill>
            <a:ln w="3810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2023-01</c:v>
                  </c:pt>
                  <c:pt idx="1">
                    <c:v>2023-02</c:v>
                  </c:pt>
                  <c:pt idx="2">
                    <c:v>2023-03</c:v>
                  </c:pt>
                  <c:pt idx="3">
                    <c:v>2023-04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19700.01</c:v>
                </c:pt>
                <c:pt idx="1">
                  <c:v>13360.66</c:v>
                </c:pt>
                <c:pt idx="2">
                  <c:v>13594.36</c:v>
                </c:pt>
                <c:pt idx="3">
                  <c:v>6070.04</c:v>
                </c:pt>
              </c:numCache>
            </c:numRef>
          </c:val>
          <c:smooth val="0"/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5E9EC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0">
                <a:solidFill>
                  <a:srgbClr val="1B2430"/>
                </a:solidFill>
              </a:rPr>
              <a:t>Total Units Sold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1C7293"/>
            </a:solidFill>
          </c:spPr>
          <c:cat>
            <c:strRef>
              <c:f>Sheet1!$A$2:$A$4</c:f>
              <c:strCache>
                <c:ptCount val="3"/>
                <c:pt idx="0">
                  <c:v>Product A</c:v>
                </c:pt>
                <c:pt idx="1">
                  <c:v>Product B</c:v>
                </c:pt>
                <c:pt idx="2">
                  <c:v>Product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252</c:v>
                </c:pt>
                <c:pt idx="1">
                  <c:v>333</c:v>
                </c:pt>
                <c:pt idx="2">
                  <c:v>425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>
                  <a:solidFill>
                    <a:srgbClr val="1B243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1D6"/>
            </a:solidFill>
          </a:ln>
        </c:spPr>
        <c:txPr>
          <a:bodyPr/>
          <a:lstStyle/>
          <a:p>
            <a:pPr>
              <a:defRPr sz="1100">
                <a:solidFill>
                  <a:srgbClr val="1B243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0">
                <a:solidFill>
                  <a:srgbClr val="1B2430"/>
                </a:solidFill>
              </a:rPr>
              <a:t>Total Revenue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065A82"/>
            </a:solidFill>
          </c:spPr>
          <c:cat>
            <c:strRef>
              <c:f>Sheet1!$A$2:$A$4</c:f>
              <c:strCache>
                <c:ptCount val="3"/>
                <c:pt idx="0">
                  <c:v>Product A</c:v>
                </c:pt>
                <c:pt idx="1">
                  <c:v>Product B</c:v>
                </c:pt>
                <c:pt idx="2">
                  <c:v>Product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11969.24</c:v>
                </c:pt>
                <c:pt idx="1">
                  <c:v>17388.79</c:v>
                </c:pt>
                <c:pt idx="2">
                  <c:v>23367.04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sz="1100">
                  <a:solidFill>
                    <a:srgbClr val="1B243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1D6"/>
            </a:solidFill>
          </a:ln>
        </c:spPr>
        <c:txPr>
          <a:bodyPr/>
          <a:lstStyle/>
          <a:p>
            <a:pPr>
              <a:defRPr sz="1100">
                <a:solidFill>
                  <a:srgbClr val="1B243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chart" Target="..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chart" Target="../charts/char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846320"/>
            <a:ext cx="2834640" cy="283464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0" y="5486400"/>
            <a:ext cx="1554480" cy="1554480"/>
          </a:xfrm>
          <a:prstGeom prst="ellipse">
            <a:avLst/>
          </a:prstGeom>
          <a:solidFill>
            <a:srgbClr val="F2A541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FC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Sales Performance Analysis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engineering pipeline from raw transactions to actionable insight: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  →  Snowflake / Snowpark  →  Streamlit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Retail Sales Performance Analysis project  | 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historical retail sales data to derive actionable insights that improve inventory planning, promotional strategy, and regional targeting.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474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organization wants to understand product performance, regional sales trends, and customer buying patterns — then act on it.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03520" cy="4754880"/>
          </a:xfrm>
          <a:prstGeom prst="roundRect">
            <a:avLst>
              <a:gd name="adj" fmla="val 2308"/>
            </a:avLst>
          </a:prstGeom>
          <a:solidFill>
            <a:srgbClr val="F7FAFC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THIS ANALYSIS ANSWERS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35140" y="24003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835140" y="24003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543800" y="233172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generate the most revenue — and does volume always drive it?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35140" y="36347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835140" y="36347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543800" y="356616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regions compare, and where is the underperformance?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835140" y="48691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835140" y="48691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543800" y="480060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seasonal or monthly patterns worth planning around?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Performance Analysis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Engineering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→ storage → transformation → visualization, with Python end to end.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423160" cy="3017520"/>
          </a:xfrm>
          <a:prstGeom prst="roundRect">
            <a:avLst>
              <a:gd name="adj" fmla="val 3774"/>
            </a:avLst>
          </a:prstGeom>
          <a:solidFill>
            <a:srgbClr val="F7FAFC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244602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4460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33375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363931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sales.csv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42519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transactions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Jan–Apr 2023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971800" y="329184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291840" y="2103120"/>
            <a:ext cx="2423160" cy="3017520"/>
          </a:xfrm>
          <a:prstGeom prst="roundRect">
            <a:avLst>
              <a:gd name="adj" fmla="val 3774"/>
            </a:avLst>
          </a:prstGeom>
          <a:solidFill>
            <a:srgbClr val="F7FAFC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60520" y="24460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4160520" y="24460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29000" y="33375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363931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S3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29000" y="42519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landing zone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(boto3 loader)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715000" y="329184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035040" y="2103120"/>
            <a:ext cx="2423160" cy="3017520"/>
          </a:xfrm>
          <a:prstGeom prst="roundRect">
            <a:avLst>
              <a:gd name="adj" fmla="val 3774"/>
            </a:avLst>
          </a:prstGeom>
          <a:solidFill>
            <a:srgbClr val="F7FAFC"/>
          </a:solidFill>
          <a:ln w="19050">
            <a:solidFill>
              <a:srgbClr val="2129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03720" y="2446020"/>
            <a:ext cx="685800" cy="6858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0" name="Text 18"/>
          <p:cNvSpPr/>
          <p:nvPr/>
        </p:nvSpPr>
        <p:spPr>
          <a:xfrm>
            <a:off x="6903720" y="24460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172200" y="33375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72200" y="363931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Snowflake + Snowpark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72200" y="42519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derive, aggregate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(Python, pushdown SQL)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458200" y="329184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8778240" y="2103120"/>
            <a:ext cx="2423160" cy="3017520"/>
          </a:xfrm>
          <a:prstGeom prst="roundRect">
            <a:avLst>
              <a:gd name="adj" fmla="val 3774"/>
            </a:avLst>
          </a:prstGeom>
          <a:solidFill>
            <a:srgbClr val="F7FAFC"/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46920" y="2446020"/>
            <a:ext cx="685800" cy="6858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7" name="Text 25"/>
          <p:cNvSpPr/>
          <p:nvPr/>
        </p:nvSpPr>
        <p:spPr>
          <a:xfrm>
            <a:off x="9646920" y="24460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915400" y="33375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915400" y="363931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915400" y="42519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 Snowflake)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layer lives in AWS. All transformations run inside Snowflake via Snowpark — no BI tool, no data egress.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Performance Analysis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Tech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71500" y="139446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1394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600200" y="13716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0" y="137160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Cheap, durable, versioned landing zone. Decouples the source system from the warehouse; Snowflake reads it directly via an external stage.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1500" y="2564892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" y="256489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254203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Snowflake + Snowpark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0" y="2542032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 transformations must run in Snowflake, in Python. Snowpark gives a pandas-like DataFrame API that compiles to pushdown SQL — Python ergonomics at warehouse scale.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1500" y="3735324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571500" y="373532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3712464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Orchestration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0" y="3712464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testable entry point (pipeline.py) sequencing extract → load → transform → metrics, with structured logging and typed exceptions at every step.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71500" y="4905756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571500" y="490575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4882896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in Snowflake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0" y="4882896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in place of a BI tool. Queries curated tables directly inside Snowflake — zero data egress, no separate hosting or auth layer.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Performance Analysis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Data Quality Check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sales.csv inspected manually before any pipeline code was written.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1645920"/>
          </a:xfrm>
          <a:prstGeom prst="roundRect">
            <a:avLst>
              <a:gd name="adj" fmla="val 5556"/>
            </a:avLst>
          </a:prstGeom>
          <a:solidFill>
            <a:srgbClr val="F7FAF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3055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1965960"/>
            <a:ext cx="3520440" cy="1645920"/>
          </a:xfrm>
          <a:prstGeom prst="roundRect">
            <a:avLst>
              <a:gd name="adj" fmla="val 5556"/>
            </a:avLst>
          </a:prstGeom>
          <a:solidFill>
            <a:srgbClr val="F7FAFC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213055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480560" y="30175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values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965960"/>
            <a:ext cx="3520440" cy="1645920"/>
          </a:xfrm>
          <a:prstGeom prst="roundRect">
            <a:avLst>
              <a:gd name="adj" fmla="val 5556"/>
            </a:avLst>
          </a:prstGeom>
          <a:solidFill>
            <a:srgbClr val="F7FAF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0" y="213055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229600" y="30175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3520440" cy="1645920"/>
          </a:xfrm>
          <a:prstGeom prst="roundRect">
            <a:avLst>
              <a:gd name="adj" fmla="val 5556"/>
            </a:avLst>
          </a:prstGeom>
          <a:solidFill>
            <a:srgbClr val="F7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05079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731520" y="49377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/ 4 regions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97680" y="3886200"/>
            <a:ext cx="3520440" cy="1645920"/>
          </a:xfrm>
          <a:prstGeom prst="roundRect">
            <a:avLst>
              <a:gd name="adj" fmla="val 5556"/>
            </a:avLst>
          </a:prstGeom>
          <a:solidFill>
            <a:srgbClr val="F7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0" y="405079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480560" y="49377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= units × price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0" y="3886200"/>
            <a:ext cx="3520440" cy="1645920"/>
          </a:xfrm>
          <a:prstGeom prst="roundRect">
            <a:avLst>
              <a:gd name="adj" fmla="val 5556"/>
            </a:avLst>
          </a:prstGeom>
          <a:solidFill>
            <a:srgbClr val="F7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0" y="405079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Jan–Apr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229600" y="49377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date range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per requirements doc: transaction_id, category, sales_rep (marked "not required as of now").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Performance Analysis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Sales Leaderboard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bring in the most revenue?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66751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371600"/>
            <a:ext cx="4160520" cy="4754880"/>
          </a:xfrm>
          <a:prstGeom prst="roundRect">
            <a:avLst>
              <a:gd name="adj" fmla="val 2637"/>
            </a:avLst>
          </a:prstGeom>
          <a:solidFill>
            <a:srgbClr val="F7FAFC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772400" y="201168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 leads with $23,367 in revenue — about 95% ahead of Product A, despite selling less than double the units.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0" y="420624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Product C for inventory and marketing investment; investigate why Product A underperforms despite steady volume.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Performance Analysis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Sales Comparison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regions perform best?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548640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172200" y="1417320"/>
          <a:ext cx="54406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6172200" y="5486400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trails the group by 30–37% — a candidate for targeted promotion.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Performance Analysis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Trend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seasonal sales patterns?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108813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is the strongest month; April appears low only because the dataset ends Apr 10 (partial month), not a real decline.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Performance Analysis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Units Sold vs Revenue, and AOV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high volume always mean high revenue?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7452360" y="1417320"/>
            <a:ext cx="4160520" cy="4709160"/>
          </a:xfrm>
          <a:prstGeom prst="roundRect">
            <a:avLst>
              <a:gd name="adj" fmla="val 2637"/>
            </a:avLst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777240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772400" y="20116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$527.25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7772400" y="2697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(revenue ÷ transactions)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772400" y="3337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692640" y="3337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$643.38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0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692640" y="3749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$571.91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772400" y="4160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692640" y="4160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$492.84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772400" y="4572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692640" y="4572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$406.61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772400" y="51663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unit: $52.20. North's AOV runs ~58% above East's — worth a look at pricing and mix.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Performance Analysis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548640" y="1417320"/>
          <a:ext cx="3246120" cy="429768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3977639" y="1417320"/>
          <a:ext cx="3246120" cy="42976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F7FAFC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6916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737360" y="1527048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 down on Product C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760720" y="1527048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leads on both revenue and revenue-per-unit — prioritize inventory and marketing spend here.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960120" y="29260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37360" y="2761488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Investigate the East region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760720" y="2761488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trails North by 37% and AOV is the lowest of all regions — check pricing, assortment, and promotion cadence.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F7FAFC"/>
          </a:solidFill>
          <a:ln/>
        </p:spPr>
      </p:sp>
      <p:sp>
        <p:nvSpPr>
          <p:cNvPr id="14" name="Shape 12"/>
          <p:cNvSpPr/>
          <p:nvPr/>
        </p:nvSpPr>
        <p:spPr>
          <a:xfrm>
            <a:off x="960120" y="41605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37360" y="3995928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around January's peak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760720" y="3995928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month in the dataset; use it to anchor promotional and inventory calendars once more history is available.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12064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20" y="53949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394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737360" y="5230368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price, not just volume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760720" y="5230368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 sells respectable volume but the lowest revenue-per-unit — volume alone doesn't guarantee margin.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Performance Analysis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554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pipeline: pipeline.py, local_engine.py, snowpark_transform.py, aws_s3_loader.py, visualize.py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3317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configuration: .env.example, requirements.txt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3108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dashboard: streamlit_app/dashboard.py (dual-mode: Streamlit-in-Snowflake or local)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" y="38862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3886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presentation, explaining the work and the 'why' behind each tech choice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0080" y="5120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0080" y="5669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 — full source and README included in the project folder.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2026-07-15T18:00:24Z</dcterms:created>
  <dcterms:modified xsi:type="dcterms:W3CDTF">2026-07-15T18:00:24Z</dcterms:modified>
</cp:coreProperties>
</file>